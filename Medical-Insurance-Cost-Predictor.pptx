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Raleway" pitchFamily="2" charset="0"/>
      <p:regular r:id="rId13"/>
    </p:embeddedFont>
    <p:embeddedFont>
      <p:font typeface="Roboto" panose="02000000000000000000" pitchFamily="2" charset="0"/>
      <p:regular r:id="rId14"/>
    </p:embeddedFont>
    <p:embeddedFont>
      <p:font typeface="Roboto Bold" panose="02000000000000000000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31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9172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2091730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Medical Insurance Cost Predictor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3556496"/>
            <a:ext cx="6296860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Predicting individual medical insurance charges using regression models built from demographic, behavioral, and health features. A practical walkthrough for data science students and practitioners interested in applied regression for healthcare insurance.</a:t>
            </a:r>
            <a:endParaRPr lang="en-US" sz="14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78A20D7-7526-32F0-32A6-13B642F86B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8318" y="6362631"/>
            <a:ext cx="2095792" cy="4953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077641"/>
            <a:ext cx="629686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Why this matters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661475" y="2833588"/>
            <a:ext cx="6296860" cy="1946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Healthcare costs vary widely—predictive models help individuals and insurers estimate expected charges.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Clarifies which factors (age, BMI, smoking, children, region, gender) drive cost differences.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Supports budgeting, underwriting decisions, and targeted wellness interventions.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85838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 Overview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61475" y="2636341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Dataset fields: age, sex, BMI, number of children, smoker status, region, and recorded insurance charges. Typical size: several hundred to a few thousand rows — enough to train baseline regression models while illustrating preprocessing steps.</a:t>
            </a:r>
            <a:endParaRPr lang="en-US" sz="1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3453805"/>
            <a:ext cx="1004962" cy="62110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902670" y="3453805"/>
            <a:ext cx="222423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1902670" y="3862487"/>
            <a:ext cx="222423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Numeric — strong positive correlation with charges in many cohorts.</a:t>
            </a:r>
            <a:endParaRPr lang="en-US" sz="14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3135" y="3453805"/>
            <a:ext cx="1004962" cy="62110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04330" y="3453805"/>
            <a:ext cx="222423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BMI</a:t>
            </a:r>
            <a:endParaRPr lang="en-US" sz="1850" dirty="0"/>
          </a:p>
        </p:txBody>
      </p:sp>
      <p:sp>
        <p:nvSpPr>
          <p:cNvPr id="9" name="Text 5"/>
          <p:cNvSpPr/>
          <p:nvPr/>
        </p:nvSpPr>
        <p:spPr>
          <a:xfrm>
            <a:off x="5604330" y="3862487"/>
            <a:ext cx="2224230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Continuous — higher BMI often linked to increased costs due to comorbidities.</a:t>
            </a:r>
            <a:endParaRPr lang="en-US" sz="14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794" y="3453805"/>
            <a:ext cx="1004962" cy="621109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305990" y="3453805"/>
            <a:ext cx="222423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Smoking</a:t>
            </a:r>
            <a:endParaRPr lang="en-US" sz="1850" dirty="0"/>
          </a:p>
        </p:txBody>
      </p:sp>
      <p:sp>
        <p:nvSpPr>
          <p:cNvPr id="12" name="Text 7"/>
          <p:cNvSpPr/>
          <p:nvPr/>
        </p:nvSpPr>
        <p:spPr>
          <a:xfrm>
            <a:off x="9305990" y="3862487"/>
            <a:ext cx="2224230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Categorical (yes/no) — one of the strongest single predictors of higher charges.</a:t>
            </a:r>
            <a:endParaRPr lang="en-US" sz="14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59E47DA-1527-C58B-9D70-5FF8B437B9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6208" y="6362631"/>
            <a:ext cx="2095792" cy="49536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1505942"/>
            <a:ext cx="6296860" cy="944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 Preparation &amp; Feature Engineering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5233360" y="2734370"/>
            <a:ext cx="6296860" cy="26175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Font typeface="+mj-lt"/>
              <a:buAutoNum type="arabicPeriod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Cleaning: handle missing values, correct inconsistent entries, remove duplicates.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Font typeface="+mj-lt"/>
              <a:buAutoNum type="arabicPeriod" startAt="2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Encoding: convert categorical variables (sex, smoker, region) using one-hot or target encoding.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Font typeface="+mj-lt"/>
              <a:buAutoNum type="arabicPeriod" startAt="3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Scaling: standardize numeric features (age, BMI) for algorithms sensitive to scale.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Font typeface="+mj-lt"/>
              <a:buAutoNum type="arabicPeriod" startAt="4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Feature creation: interactions (age×smoker), BMI categories, comorbidity flags, or polynomial terms if nonlinear effects present.</a:t>
            </a:r>
            <a:endParaRPr lang="en-US" sz="14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9C0D24-BC19-1867-CFC4-091D231B7F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6208" y="6370795"/>
            <a:ext cx="2095792" cy="4953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954510"/>
            <a:ext cx="5203794" cy="2948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32776" y="1798935"/>
            <a:ext cx="5203794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Modeling Approach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6332776" y="2460427"/>
            <a:ext cx="5203794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Compare several regression techniques to find the best balance of accuracy, interpretability, and robustness: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6332776" y="3235325"/>
            <a:ext cx="5203794" cy="1946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Linear Regression: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Baseline, interpretable coefficients, good when relationships are mostly linear.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Decision Tree Regression: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Captures nonlinearities and interactions, but prone to overfitting.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Random Forest Regression: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Ensemble reduces variance, typically improves predictive performance.</a:t>
            </a:r>
            <a:endParaRPr lang="en-US" sz="145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4A4BE57-52FD-19FC-DEA6-E898045061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6208" y="6362631"/>
            <a:ext cx="2095792" cy="49536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1820168"/>
            <a:ext cx="629686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Evaluation Strategy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5233360" y="2576116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robust evaluation to compare models and estimate real-world performance: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5233360" y="3393579"/>
            <a:ext cx="6296860" cy="16442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Train/Test split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(e.g., 80/20) and cross-validation for stable estimates.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Metrics: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MAE (median-friendly), RMSE (penalizes large errors), R² (variance explained).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Assess residuals for heteroscedasticity, nonlinearity, and subgroup bias (smokers vs non-smokers, regions).</a:t>
            </a:r>
            <a:endParaRPr lang="en-US" sz="14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0F4392-058F-A79B-56BF-8DF858148E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6208" y="6362631"/>
            <a:ext cx="2095792" cy="49536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7454" y="519807"/>
            <a:ext cx="6356786" cy="57086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088615" y="1651326"/>
            <a:ext cx="2369344" cy="305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Preprocess</a:t>
            </a:r>
            <a:endParaRPr lang="en-US" sz="1900" dirty="0"/>
          </a:p>
        </p:txBody>
      </p:sp>
      <p:sp>
        <p:nvSpPr>
          <p:cNvPr id="4" name="Text 1"/>
          <p:cNvSpPr/>
          <p:nvPr/>
        </p:nvSpPr>
        <p:spPr>
          <a:xfrm>
            <a:off x="4679329" y="4793264"/>
            <a:ext cx="2294792" cy="305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Train Models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6716163" y="2291058"/>
            <a:ext cx="2294792" cy="305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Evaluate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356682" y="6281539"/>
            <a:ext cx="11478330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Pipeline: clean → train &amp; tune → evaluate &amp; interpret.</a:t>
            </a:r>
            <a:endParaRPr lang="en-US" sz="7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4995CB-ED4F-760A-9F5B-5996F69F81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6208" y="6362631"/>
            <a:ext cx="2095792" cy="49536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1742182"/>
            <a:ext cx="629686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Interpreting Results &amp; Key Insights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5233360" y="2498130"/>
            <a:ext cx="6296860" cy="26175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Typical findings: smoker status and higher BMI often produce the largest positive effect on charges.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 shows a steady upward trend; interactions (age × BMI, smoker × age) can improve fit.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Regional differences reflect utilization and pricing variation — include region-specific adjustments when necessary.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Examine and explain outliers — rare high-cost cases may be driven by chronic conditions not captured in features.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115046"/>
            <a:ext cx="4637269" cy="262780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6251" y="1250851"/>
            <a:ext cx="577022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Deployment &amp; Use Cases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5766251" y="1912342"/>
            <a:ext cx="637980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Turn the model into a usable tool: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5766251" y="2384822"/>
            <a:ext cx="5770220" cy="1946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Web form or API: input age, BMI, smoking, children, region → return estimated charge and confidence interval.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Decision support for insurers: risk segmentation and pricing guidance.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Personal finance: help individuals forecast expected healthcare expenses and inform lifestyle interventions.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766251" y="4544120"/>
            <a:ext cx="5770220" cy="1039416"/>
          </a:xfrm>
          <a:prstGeom prst="roundRect">
            <a:avLst>
              <a:gd name="adj" fmla="val 7638"/>
            </a:avLst>
          </a:prstGeom>
          <a:solidFill>
            <a:srgbClr val="E1E1EA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258" y="4830862"/>
            <a:ext cx="236234" cy="189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80499" y="4761409"/>
            <a:ext cx="496696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Ensure fairness checks and privacy safeguards before production deployment.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1333500"/>
            <a:ext cx="629686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Next Steps &amp; Practical Tips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661475" y="2089448"/>
            <a:ext cx="6296860" cy="26175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feature importance and SHAP analyses to explain individual predictions and build trust.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Try additional models (Gradient Boosting, XGBoost) and calibrate prediction intervals.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 on external or holdout datasets to check generalization across different populations.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Document data provenance, preprocessing, and fairness audits to meet healthcare compliance and ethical standards.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661475" y="4919663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Ready to build the predictor?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Start with data cleaning, baseline linear regression, then iterate with tree ensembles and explainability tools.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638</Words>
  <Application>Microsoft Office PowerPoint</Application>
  <PresentationFormat>Widescreen</PresentationFormat>
  <Paragraphs>60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Roboto Bold</vt:lpstr>
      <vt:lpstr>Roboto</vt:lpstr>
      <vt:lpstr>Arial</vt:lpstr>
      <vt:lpstr>Raleway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toram charan</cp:lastModifiedBy>
  <cp:revision>2</cp:revision>
  <dcterms:created xsi:type="dcterms:W3CDTF">2026-09-29T04:50:05Z</dcterms:created>
  <dcterms:modified xsi:type="dcterms:W3CDTF">2026-09-29T05:30:09Z</dcterms:modified>
</cp:coreProperties>
</file>